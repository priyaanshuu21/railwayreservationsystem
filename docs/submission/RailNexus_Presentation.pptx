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72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" y="246888"/>
            <a:ext cx="4251960" cy="1234440"/>
          </a:xfrm>
          <a:prstGeom prst="round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201168"/>
            <a:ext cx="425196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" y="4572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02020"/>
                </a:solidFill>
                <a:latin typeface="Times New Roman"/>
              </a:defRPr>
            </a:pPr>
            <a:r>
              <a:t>NMIMS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365760"/>
            <a:ext cx="29535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MUKESH PATEL SCHOOL OF</a:t>
            </a:r>
          </a:p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TECHNOLOGY MANAGEMENT</a:t>
            </a:r>
          </a:p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&amp;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5560" y="457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900" b="1">
                <a:solidFill>
                  <a:srgbClr val="FFFFFF"/>
                </a:solidFill>
                <a:latin typeface="Times New Roman"/>
              </a:defRPr>
            </a:pPr>
            <a:r>
              <a:t>SVKM’S NMIMS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2272" y="93268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B72D2A"/>
                </a:solidFill>
                <a:latin typeface="Times New Roman"/>
              </a:defRPr>
            </a:pPr>
            <a:r>
              <a:t>Railway Reservation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547104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626262"/>
                </a:solidFill>
                <a:latin typeface="Times New Roman"/>
              </a:defRPr>
            </a:pPr>
            <a:r>
              <a:t>RailNexus | Advanced Database Management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96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626262"/>
                </a:solidFill>
                <a:latin typeface="Times New Roman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65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4300" b="1">
                <a:solidFill>
                  <a:srgbClr val="B72D2A"/>
                </a:solidFill>
                <a:latin typeface="Times New Roman"/>
              </a:defRPr>
            </a:pPr>
            <a:r>
              <a:t>RAILNEXUS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944368"/>
            <a:ext cx="9921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500" b="0">
                <a:solidFill>
                  <a:srgbClr val="202020"/>
                </a:solidFill>
                <a:latin typeface="Times New Roman"/>
              </a:defRPr>
            </a:pPr>
            <a:r>
              <a:t>Reservations • Queue promotion • Announcements</a:t>
            </a:r>
          </a:p>
          <a:p>
            <a:pPr algn="ctr">
              <a:spcAft>
                <a:spcPts val="700"/>
              </a:spcAft>
              <a:defRPr sz="2500" b="0">
                <a:solidFill>
                  <a:srgbClr val="202020"/>
                </a:solidFill>
                <a:latin typeface="Times New Roman"/>
              </a:defRPr>
            </a:pPr>
            <a:r>
              <a:t>Boarding • Reports •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4343400"/>
            <a:ext cx="8321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900" b="0">
                <a:solidFill>
                  <a:srgbClr val="202020"/>
                </a:solidFill>
                <a:latin typeface="Times New Roman"/>
              </a:defRPr>
            </a:pPr>
            <a:r>
              <a:t>Priyanshu Tiwari</a:t>
            </a:r>
          </a:p>
          <a:p>
            <a:pPr algn="ctr">
              <a:spcAft>
                <a:spcPts val="700"/>
              </a:spcAft>
              <a:defRPr sz="1900" b="0">
                <a:solidFill>
                  <a:srgbClr val="202020"/>
                </a:solidFill>
                <a:latin typeface="Times New Roman"/>
              </a:defRPr>
            </a:pPr>
            <a:r>
              <a:t>Roll No.: [Enter roll number]  |  Faculty: [Enter faculty name]</a:t>
            </a:r>
          </a:p>
          <a:p>
            <a:pPr algn="ctr">
              <a:spcAft>
                <a:spcPts val="700"/>
              </a:spcAft>
              <a:defRPr sz="1900" b="0">
                <a:solidFill>
                  <a:srgbClr val="202020"/>
                </a:solidFill>
                <a:latin typeface="Times New Roman"/>
              </a:defRPr>
            </a:pPr>
            <a:r>
              <a:t>Advanced Database Management Systems •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72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" y="246888"/>
            <a:ext cx="4251960" cy="1234440"/>
          </a:xfrm>
          <a:prstGeom prst="round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201168"/>
            <a:ext cx="425196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" y="4572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02020"/>
                </a:solidFill>
                <a:latin typeface="Times New Roman"/>
              </a:defRPr>
            </a:pPr>
            <a:r>
              <a:t>NMIMS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365760"/>
            <a:ext cx="29535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MUKESH PATEL SCHOOL OF</a:t>
            </a:r>
          </a:p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TECHNOLOGY MANAGEMENT</a:t>
            </a:r>
          </a:p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&amp;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5560" y="457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900" b="1">
                <a:solidFill>
                  <a:srgbClr val="FFFFFF"/>
                </a:solidFill>
                <a:latin typeface="Times New Roman"/>
              </a:defRPr>
            </a:pPr>
            <a:r>
              <a:t>SVKM’S NMIMS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2272" y="93268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B72D2A"/>
                </a:solidFill>
                <a:latin typeface="Times New Roman"/>
              </a:defRPr>
            </a:pPr>
            <a:r>
              <a:t>Project Scope and Five Actors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547104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626262"/>
                </a:solidFill>
                <a:latin typeface="Times New Roman"/>
              </a:defRPr>
            </a:pPr>
            <a:r>
              <a:t>RailNexus | Advanced Database Management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96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626262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28800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B72D2A"/>
                </a:solidFill>
                <a:latin typeface="Times New Roman"/>
              </a:defRPr>
            </a:pPr>
            <a:r>
              <a:t>Passenger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31136"/>
            <a:ext cx="5440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0">
                <a:solidFill>
                  <a:srgbClr val="202020"/>
                </a:solidFill>
                <a:latin typeface="Times New Roman"/>
              </a:defRPr>
            </a:pPr>
            <a:r>
              <a:t>Search, book, pay, cancel and view notices.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099815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B72D2A"/>
                </a:solidFill>
                <a:latin typeface="Times New Roman"/>
              </a:defRPr>
            </a:pPr>
            <a:r>
              <a:t>Operational staff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502151"/>
            <a:ext cx="5440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0">
                <a:solidFill>
                  <a:srgbClr val="202020"/>
                </a:solidFill>
                <a:latin typeface="Times New Roman"/>
              </a:defRPr>
            </a:pPr>
            <a:r>
              <a:t>TTE records boarding; Station Master publishes announcements.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370831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B72D2A"/>
                </a:solidFill>
                <a:latin typeface="Times New Roman"/>
              </a:defRPr>
            </a:pPr>
            <a:r>
              <a:t>Administration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773168"/>
            <a:ext cx="5440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0">
                <a:solidFill>
                  <a:srgbClr val="202020"/>
                </a:solidFill>
                <a:latin typeface="Times New Roman"/>
              </a:defRPr>
            </a:pPr>
            <a:r>
              <a:t>Zone Admin sees assigned-zone reports; Super Admin sees all zones and audit events.</a:t>
            </a:r>
          </a:p>
        </p:txBody>
      </p:sp>
      <p:pic>
        <p:nvPicPr>
          <p:cNvPr id="17" name="Picture 16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50872"/>
            <a:ext cx="5394960" cy="38364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72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" y="246888"/>
            <a:ext cx="4251960" cy="1234440"/>
          </a:xfrm>
          <a:prstGeom prst="round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201168"/>
            <a:ext cx="425196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" y="4572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02020"/>
                </a:solidFill>
                <a:latin typeface="Times New Roman"/>
              </a:defRPr>
            </a:pPr>
            <a:r>
              <a:t>NMIMS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365760"/>
            <a:ext cx="29535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MUKESH PATEL SCHOOL OF</a:t>
            </a:r>
          </a:p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TECHNOLOGY MANAGEMENT</a:t>
            </a:r>
          </a:p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&amp;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5560" y="457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900" b="1">
                <a:solidFill>
                  <a:srgbClr val="FFFFFF"/>
                </a:solidFill>
                <a:latin typeface="Times New Roman"/>
              </a:defRPr>
            </a:pPr>
            <a:r>
              <a:t>SVKM’S NMIMS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2272" y="93268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B72D2A"/>
                </a:solidFill>
                <a:latin typeface="Times New Roman"/>
              </a:defRPr>
            </a:pPr>
            <a:r>
              <a:t>Three Database Technologies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547104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626262"/>
                </a:solidFill>
                <a:latin typeface="Times New Roman"/>
              </a:defRPr>
            </a:pPr>
            <a:r>
              <a:t>RailNexus | Advanced Database Management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96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626262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2880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B72D2A"/>
                </a:solidFill>
                <a:latin typeface="Times New Roman"/>
              </a:defRPr>
            </a:pPr>
            <a:r>
              <a:t>Oracle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31136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0">
                <a:solidFill>
                  <a:srgbClr val="202020"/>
                </a:solidFill>
                <a:latin typeface="Times New Roman"/>
              </a:defRPr>
            </a:pPr>
            <a:r>
              <a:t>Bookings, tickets, payments, announcements, triggers and reports.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099815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B72D2A"/>
                </a:solidFill>
                <a:latin typeface="Times New Roman"/>
              </a:defRPr>
            </a:pPr>
            <a:r>
              <a:t>Redis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502151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0">
                <a:solidFill>
                  <a:srgbClr val="202020"/>
                </a:solidFill>
                <a:latin typeface="Times New Roman"/>
              </a:defRPr>
            </a:pPr>
            <a:r>
              <a:t>Fast station-list caching; optional outbox pub/sub.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370831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B72D2A"/>
                </a:solidFill>
                <a:latin typeface="Times New Roman"/>
              </a:defRPr>
            </a:pPr>
            <a:r>
              <a:t>MongoDB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773168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0">
                <a:solidFill>
                  <a:srgbClr val="202020"/>
                </a:solidFill>
                <a:latin typeface="Times New Roman"/>
              </a:defRPr>
            </a:pPr>
            <a:r>
              <a:t>Best-effort sensor-reading document snapshots.</a:t>
            </a:r>
          </a:p>
        </p:txBody>
      </p:sp>
      <p:pic>
        <p:nvPicPr>
          <p:cNvPr id="17" name="Picture 1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14462"/>
            <a:ext cx="5577840" cy="34177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72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" y="246888"/>
            <a:ext cx="4251960" cy="1234440"/>
          </a:xfrm>
          <a:prstGeom prst="round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201168"/>
            <a:ext cx="425196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" y="4572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02020"/>
                </a:solidFill>
                <a:latin typeface="Times New Roman"/>
              </a:defRPr>
            </a:pPr>
            <a:r>
              <a:t>NMIMS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365760"/>
            <a:ext cx="29535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MUKESH PATEL SCHOOL OF</a:t>
            </a:r>
          </a:p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TECHNOLOGY MANAGEMENT</a:t>
            </a:r>
          </a:p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&amp;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5560" y="457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900" b="1">
                <a:solidFill>
                  <a:srgbClr val="FFFFFF"/>
                </a:solidFill>
                <a:latin typeface="Times New Roman"/>
              </a:defRPr>
            </a:pPr>
            <a:r>
              <a:t>SVKM’S NMIMS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2272" y="93268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B72D2A"/>
                </a:solidFill>
                <a:latin typeface="Times New Roman"/>
              </a:defRPr>
            </a:pPr>
            <a:r>
              <a:t>EER: Identity and Role Specialization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547104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626262"/>
                </a:solidFill>
                <a:latin typeface="Times New Roman"/>
              </a:defRPr>
            </a:pPr>
            <a:r>
              <a:t>RailNexus | Advanced Database Management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96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626262"/>
                </a:solidFill>
                <a:latin typeface="Times New Roman"/>
              </a:defRPr>
            </a:pPr>
            <a:r>
              <a:t>4</a:t>
            </a:r>
          </a:p>
        </p:txBody>
      </p:sp>
      <p:pic>
        <p:nvPicPr>
          <p:cNvPr id="11" name="Picture 10" descr="EER_Ident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79" y="1783080"/>
            <a:ext cx="5394960" cy="3611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55778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000" b="0">
                <a:solidFill>
                  <a:srgbClr val="202020"/>
                </a:solidFill>
                <a:latin typeface="Times New Roman"/>
              </a:defRPr>
            </a:pPr>
            <a:r>
              <a:t>PERSON → Passenger / Employee; Employee → four staff roles.</a:t>
            </a:r>
          </a:p>
          <a:p>
            <a:pPr algn="ctr">
              <a:spcAft>
                <a:spcPts val="700"/>
              </a:spcAft>
              <a:defRPr sz="2000" b="0">
                <a:solidFill>
                  <a:srgbClr val="202020"/>
                </a:solidFill>
                <a:latin typeface="Times New Roman"/>
              </a:defRPr>
            </a:pPr>
            <a:r>
              <a:t>d = disjoint. Subtype primary keys also reference their supertype.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72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" y="246888"/>
            <a:ext cx="4251960" cy="1234440"/>
          </a:xfrm>
          <a:prstGeom prst="round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201168"/>
            <a:ext cx="425196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" y="4572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02020"/>
                </a:solidFill>
                <a:latin typeface="Times New Roman"/>
              </a:defRPr>
            </a:pPr>
            <a:r>
              <a:t>NMIMS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365760"/>
            <a:ext cx="29535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MUKESH PATEL SCHOOL OF</a:t>
            </a:r>
          </a:p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TECHNOLOGY MANAGEMENT</a:t>
            </a:r>
          </a:p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&amp;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5560" y="457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900" b="1">
                <a:solidFill>
                  <a:srgbClr val="FFFFFF"/>
                </a:solidFill>
                <a:latin typeface="Times New Roman"/>
              </a:defRPr>
            </a:pPr>
            <a:r>
              <a:t>SVKM’S NMIMS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2272" y="93268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B72D2A"/>
                </a:solidFill>
                <a:latin typeface="Times New Roman"/>
              </a:defRPr>
            </a:pPr>
            <a:r>
              <a:t>EER: Reservation Relationships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547104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626262"/>
                </a:solidFill>
                <a:latin typeface="Times New Roman"/>
              </a:defRPr>
            </a:pPr>
            <a:r>
              <a:t>RailNexus | Advanced Database Management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96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626262"/>
                </a:solidFill>
                <a:latin typeface="Times New Roman"/>
              </a:defRPr>
            </a:pPr>
            <a:r>
              <a:t>5</a:t>
            </a:r>
          </a:p>
        </p:txBody>
      </p:sp>
      <p:pic>
        <p:nvPicPr>
          <p:cNvPr id="11" name="Picture 10" descr="EER_Boo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075" y="1737360"/>
            <a:ext cx="4890169" cy="4434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52560" y="2103120"/>
            <a:ext cx="2651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900" b="0">
                <a:solidFill>
                  <a:srgbClr val="202020"/>
                </a:solidFill>
                <a:latin typeface="Times New Roman"/>
              </a:defRPr>
            </a:pPr>
            <a:r>
              <a:t>One passenger → many bookings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02020"/>
                </a:solidFill>
                <a:latin typeface="Times New Roman"/>
              </a:defRPr>
            </a:pPr>
          </a:p>
          <a:p>
            <a:pPr algn="l">
              <a:spcAft>
                <a:spcPts val="700"/>
              </a:spcAft>
              <a:defRPr sz="1900" b="0">
                <a:solidFill>
                  <a:srgbClr val="202020"/>
                </a:solidFill>
                <a:latin typeface="Times New Roman"/>
              </a:defRPr>
            </a:pPr>
            <a:r>
              <a:t>One journey → coaches → seats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02020"/>
                </a:solidFill>
                <a:latin typeface="Times New Roman"/>
              </a:defRPr>
            </a:pPr>
          </a:p>
          <a:p>
            <a:pPr algn="l">
              <a:spcAft>
                <a:spcPts val="700"/>
              </a:spcAft>
              <a:defRPr sz="1900" b="0">
                <a:solidFill>
                  <a:srgbClr val="202020"/>
                </a:solidFill>
                <a:latin typeface="Times New Roman"/>
              </a:defRPr>
            </a:pPr>
            <a:r>
              <a:t>One booking → one ticket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02020"/>
                </a:solidFill>
                <a:latin typeface="Times New Roman"/>
              </a:defRPr>
            </a:pPr>
          </a:p>
          <a:p>
            <a:pPr algn="l">
              <a:spcAft>
                <a:spcPts val="700"/>
              </a:spcAft>
              <a:defRPr sz="1900" b="0">
                <a:solidFill>
                  <a:srgbClr val="202020"/>
                </a:solidFill>
                <a:latin typeface="Times New Roman"/>
              </a:defRPr>
            </a:pPr>
            <a:r>
              <a:t>Payments and queue entries reference the reservation lifecycle.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72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" y="246888"/>
            <a:ext cx="4251960" cy="1234440"/>
          </a:xfrm>
          <a:prstGeom prst="round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201168"/>
            <a:ext cx="425196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" y="4572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02020"/>
                </a:solidFill>
                <a:latin typeface="Times New Roman"/>
              </a:defRPr>
            </a:pPr>
            <a:r>
              <a:t>NMIMS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365760"/>
            <a:ext cx="29535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MUKESH PATEL SCHOOL OF</a:t>
            </a:r>
          </a:p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TECHNOLOGY MANAGEMENT</a:t>
            </a:r>
          </a:p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&amp;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5560" y="457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900" b="1">
                <a:solidFill>
                  <a:srgbClr val="FFFFFF"/>
                </a:solidFill>
                <a:latin typeface="Times New Roman"/>
              </a:defRPr>
            </a:pPr>
            <a:r>
              <a:t>SVKM’S NMIMS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2272" y="93268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B72D2A"/>
                </a:solidFill>
                <a:latin typeface="Times New Roman"/>
              </a:defRPr>
            </a:pPr>
            <a:r>
              <a:t>EER: Ticket and Payment Specialization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547104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626262"/>
                </a:solidFill>
                <a:latin typeface="Times New Roman"/>
              </a:defRPr>
            </a:pPr>
            <a:r>
              <a:t>RailNexus | Advanced Database Management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96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626262"/>
                </a:solidFill>
                <a:latin typeface="Times New Roman"/>
              </a:defRPr>
            </a:pPr>
            <a:r>
              <a:t>6</a:t>
            </a:r>
          </a:p>
        </p:txBody>
      </p:sp>
      <p:pic>
        <p:nvPicPr>
          <p:cNvPr id="11" name="Picture 10" descr="EER_Ticket_Pa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76473"/>
            <a:ext cx="11064240" cy="249941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58064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000" b="0">
                <a:solidFill>
                  <a:srgbClr val="202020"/>
                </a:solidFill>
                <a:latin typeface="Times New Roman"/>
              </a:defRPr>
            </a:pPr>
            <a:r>
              <a:t>Common identity remains in the supertype; status- or method-specific fields remain in detail tables.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72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" y="246888"/>
            <a:ext cx="4251960" cy="1234440"/>
          </a:xfrm>
          <a:prstGeom prst="round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201168"/>
            <a:ext cx="425196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" y="4572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02020"/>
                </a:solidFill>
                <a:latin typeface="Times New Roman"/>
              </a:defRPr>
            </a:pPr>
            <a:r>
              <a:t>NMIMS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365760"/>
            <a:ext cx="29535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MUKESH PATEL SCHOOL OF</a:t>
            </a:r>
          </a:p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TECHNOLOGY MANAGEMENT</a:t>
            </a:r>
          </a:p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&amp;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5560" y="457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900" b="1">
                <a:solidFill>
                  <a:srgbClr val="FFFFFF"/>
                </a:solidFill>
                <a:latin typeface="Times New Roman"/>
              </a:defRPr>
            </a:pPr>
            <a:r>
              <a:t>SVKM’S NMIMS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2272" y="93268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B72D2A"/>
                </a:solidFill>
                <a:latin typeface="Times New Roman"/>
              </a:defRPr>
            </a:pPr>
            <a:r>
              <a:t>EER: Train Specialization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547104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626262"/>
                </a:solidFill>
                <a:latin typeface="Times New Roman"/>
              </a:defRPr>
            </a:pPr>
            <a:r>
              <a:t>RailNexus | Advanced Database Management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96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626262"/>
                </a:solidFill>
                <a:latin typeface="Times New Roman"/>
              </a:defRPr>
            </a:pPr>
            <a:r>
              <a:t>7</a:t>
            </a:r>
          </a:p>
        </p:txBody>
      </p:sp>
      <p:pic>
        <p:nvPicPr>
          <p:cNvPr id="11" name="Picture 10" descr="EER_T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516" y="1828799"/>
            <a:ext cx="8866487" cy="35204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54864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100" b="0">
                <a:solidFill>
                  <a:srgbClr val="202020"/>
                </a:solidFill>
                <a:latin typeface="Times New Roman"/>
              </a:defRPr>
            </a:pPr>
            <a:r>
              <a:t>TRAIN → Express / Superfast / Passenger / Freight. Passenger search excludes freight services.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72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" y="246888"/>
            <a:ext cx="4251960" cy="1234440"/>
          </a:xfrm>
          <a:prstGeom prst="round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201168"/>
            <a:ext cx="425196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" y="4572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02020"/>
                </a:solidFill>
                <a:latin typeface="Times New Roman"/>
              </a:defRPr>
            </a:pPr>
            <a:r>
              <a:t>NMIMS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365760"/>
            <a:ext cx="29535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MUKESH PATEL SCHOOL OF</a:t>
            </a:r>
          </a:p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TECHNOLOGY MANAGEMENT</a:t>
            </a:r>
          </a:p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&amp;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5560" y="457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900" b="1">
                <a:solidFill>
                  <a:srgbClr val="FFFFFF"/>
                </a:solidFill>
                <a:latin typeface="Times New Roman"/>
              </a:defRPr>
            </a:pPr>
            <a:r>
              <a:t>SVKM’S NMIMS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2272" y="93268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B72D2A"/>
                </a:solidFill>
                <a:latin typeface="Times New Roman"/>
              </a:defRPr>
            </a:pPr>
            <a:r>
              <a:t>Search and Limited Inventory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547104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626262"/>
                </a:solidFill>
                <a:latin typeface="Times New Roman"/>
              </a:defRPr>
            </a:pPr>
            <a:r>
              <a:t>RailNexus | Advanced Database Management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96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626262"/>
                </a:solidFill>
                <a:latin typeface="Times New Roman"/>
              </a:defRPr>
            </a:pPr>
            <a:r>
              <a:t>8</a:t>
            </a:r>
          </a:p>
        </p:txBody>
      </p:sp>
      <p:pic>
        <p:nvPicPr>
          <p:cNvPr id="11" name="Picture 10" descr="03_avail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119" y="1737360"/>
            <a:ext cx="6365081" cy="4526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38160" y="182880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900" b="1">
                <a:solidFill>
                  <a:srgbClr val="B72D2A"/>
                </a:solidFill>
                <a:latin typeface="Times New Roman"/>
              </a:defRPr>
            </a:pPr>
            <a:r>
              <a:t>Regular journeys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31136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202020"/>
                </a:solidFill>
                <a:latin typeface="Times New Roman"/>
              </a:defRPr>
            </a:pPr>
            <a:r>
              <a:t>1–30 October 2026.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099815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900" b="1">
                <a:solidFill>
                  <a:srgbClr val="B72D2A"/>
                </a:solidFill>
                <a:latin typeface="Times New Roman"/>
              </a:defRPr>
            </a:pPr>
            <a:r>
              <a:t>Per class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502151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202020"/>
                </a:solidFill>
                <a:latin typeface="Times New Roman"/>
              </a:defRPr>
            </a:pPr>
            <a:r>
              <a:t>2 confirmed seats, 1 RAC place, 5 WL places.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4370831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900" b="1">
                <a:solidFill>
                  <a:srgbClr val="B72D2A"/>
                </a:solidFill>
                <a:latin typeface="Times New Roman"/>
              </a:defRPr>
            </a:pPr>
            <a:r>
              <a:t>Normal 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773168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202020"/>
                </a:solidFill>
                <a:latin typeface="Times New Roman"/>
              </a:defRPr>
            </a:pPr>
            <a:r>
              <a:t>Search → Book → My bookings.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72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" y="246888"/>
            <a:ext cx="4251960" cy="1234440"/>
          </a:xfrm>
          <a:prstGeom prst="round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201168"/>
            <a:ext cx="425196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" y="4572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02020"/>
                </a:solidFill>
                <a:latin typeface="Times New Roman"/>
              </a:defRPr>
            </a:pPr>
            <a:r>
              <a:t>NMIMS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365760"/>
            <a:ext cx="29535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MUKESH PATEL SCHOOL OF</a:t>
            </a:r>
          </a:p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TECHNOLOGY MANAGEMENT</a:t>
            </a:r>
          </a:p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&amp;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5560" y="457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900" b="1">
                <a:solidFill>
                  <a:srgbClr val="FFFFFF"/>
                </a:solidFill>
                <a:latin typeface="Times New Roman"/>
              </a:defRPr>
            </a:pPr>
            <a:r>
              <a:t>SVKM’S NMIMS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2272" y="93268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B72D2A"/>
                </a:solidFill>
                <a:latin typeface="Times New Roman"/>
              </a:defRPr>
            </a:pPr>
            <a:r>
              <a:t>PL/SQL: Booking and Fare Calculation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547104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626262"/>
                </a:solidFill>
                <a:latin typeface="Times New Roman"/>
              </a:defRPr>
            </a:pPr>
            <a:r>
              <a:t>RailNexus | Advanced Database Management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96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626262"/>
                </a:solidFill>
                <a:latin typeface="Times New Roman"/>
              </a:defRPr>
            </a:pPr>
            <a: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28800"/>
            <a:ext cx="5806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B72D2A"/>
                </a:solidFill>
                <a:latin typeface="Times New Roman"/>
              </a:defRPr>
            </a:pPr>
            <a:r>
              <a:t>Booking procedure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31136"/>
            <a:ext cx="5715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900" b="0">
                <a:solidFill>
                  <a:srgbClr val="202020"/>
                </a:solidFill>
                <a:latin typeface="Times New Roman"/>
              </a:defRPr>
            </a:pPr>
            <a:r>
              <a:t>pkg_booking.book_ticket validates, locks inventory and allocates CFM / RAC / WL.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099815"/>
            <a:ext cx="5806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B72D2A"/>
                </a:solidFill>
                <a:latin typeface="Times New Roman"/>
              </a:defRPr>
            </a:pPr>
            <a:r>
              <a:t>Fare function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502151"/>
            <a:ext cx="5715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900" b="0">
                <a:solidFill>
                  <a:srgbClr val="202020"/>
                </a:solidFill>
                <a:latin typeface="Times New Roman"/>
              </a:defRPr>
            </a:pPr>
            <a:r>
              <a:t>pkg_fare.compute_fare uses distance, class and the effective fare rule.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370831"/>
            <a:ext cx="5806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B72D2A"/>
                </a:solidFill>
                <a:latin typeface="Times New Roman"/>
              </a:defRPr>
            </a:pPr>
            <a:r>
              <a:t>Request safety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773168"/>
            <a:ext cx="5715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900" b="0">
                <a:solidFill>
                  <a:srgbClr val="202020"/>
                </a:solidFill>
                <a:latin typeface="Times New Roman"/>
              </a:defRPr>
            </a:pPr>
            <a:r>
              <a:t>Unique request IDs support repeated-call handling.</a:t>
            </a:r>
          </a:p>
        </p:txBody>
      </p:sp>
      <p:pic>
        <p:nvPicPr>
          <p:cNvPr id="17" name="Picture 16" descr="04_confirmed_pa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082291"/>
            <a:ext cx="5394960" cy="38364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72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" y="246888"/>
            <a:ext cx="4251960" cy="1234440"/>
          </a:xfrm>
          <a:prstGeom prst="round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201168"/>
            <a:ext cx="425196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" y="4572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02020"/>
                </a:solidFill>
                <a:latin typeface="Times New Roman"/>
              </a:defRPr>
            </a:pPr>
            <a:r>
              <a:t>NMIMS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365760"/>
            <a:ext cx="29535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MUKESH PATEL SCHOOL OF</a:t>
            </a:r>
          </a:p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TECHNOLOGY MANAGEMENT</a:t>
            </a:r>
          </a:p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&amp;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5560" y="457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900" b="1">
                <a:solidFill>
                  <a:srgbClr val="FFFFFF"/>
                </a:solidFill>
                <a:latin typeface="Times New Roman"/>
              </a:defRPr>
            </a:pPr>
            <a:r>
              <a:t>SVKM’S NMIMS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2272" y="93268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B72D2A"/>
                </a:solidFill>
                <a:latin typeface="Times New Roman"/>
              </a:defRPr>
            </a:pPr>
            <a:r>
              <a:t>Two Passengers: Before Cancellation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547104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626262"/>
                </a:solidFill>
                <a:latin typeface="Times New Roman"/>
              </a:defRPr>
            </a:pPr>
            <a:r>
              <a:t>RailNexus | Advanced Database Management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96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626262"/>
                </a:solidFill>
                <a:latin typeface="Times New Roman"/>
              </a:defRPr>
            </a:pPr>
            <a:r>
              <a:t>10</a:t>
            </a:r>
          </a:p>
        </p:txBody>
      </p:sp>
      <p:pic>
        <p:nvPicPr>
          <p:cNvPr id="11" name="Picture 10" descr="05_queue_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299" y="1737360"/>
            <a:ext cx="6365081" cy="4526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32520" y="2103120"/>
            <a:ext cx="2834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100" b="0">
                <a:solidFill>
                  <a:srgbClr val="202020"/>
                </a:solidFill>
                <a:latin typeface="Times New Roman"/>
              </a:defRPr>
            </a:pPr>
            <a:r>
              <a:t>Same train, date and class</a:t>
            </a:r>
          </a:p>
          <a:p>
            <a:pPr algn="l">
              <a:spcAft>
                <a:spcPts val="700"/>
              </a:spcAft>
              <a:defRPr sz="2100" b="0">
                <a:solidFill>
                  <a:srgbClr val="202020"/>
                </a:solidFill>
                <a:latin typeface="Times New Roman"/>
              </a:defRPr>
            </a:pPr>
          </a:p>
          <a:p>
            <a:pPr algn="l">
              <a:spcAft>
                <a:spcPts val="700"/>
              </a:spcAft>
              <a:defRPr sz="2100" b="0">
                <a:solidFill>
                  <a:srgbClr val="202020"/>
                </a:solidFill>
                <a:latin typeface="Times New Roman"/>
              </a:defRPr>
            </a:pPr>
            <a:r>
              <a:t>Aarav: 2 Confirmed</a:t>
            </a:r>
          </a:p>
          <a:p>
            <a:pPr algn="l">
              <a:spcAft>
                <a:spcPts val="700"/>
              </a:spcAft>
              <a:defRPr sz="2100" b="0">
                <a:solidFill>
                  <a:srgbClr val="202020"/>
                </a:solidFill>
                <a:latin typeface="Times New Roman"/>
              </a:defRPr>
            </a:pPr>
          </a:p>
          <a:p>
            <a:pPr algn="l">
              <a:spcAft>
                <a:spcPts val="700"/>
              </a:spcAft>
              <a:defRPr sz="2100" b="0">
                <a:solidFill>
                  <a:srgbClr val="202020"/>
                </a:solidFill>
                <a:latin typeface="Times New Roman"/>
              </a:defRPr>
            </a:pPr>
            <a:r>
              <a:t>Meera: RAC + WL</a:t>
            </a:r>
          </a:p>
          <a:p>
            <a:pPr algn="l">
              <a:spcAft>
                <a:spcPts val="700"/>
              </a:spcAft>
              <a:defRPr sz="2100" b="0">
                <a:solidFill>
                  <a:srgbClr val="202020"/>
                </a:solidFill>
                <a:latin typeface="Times New Roman"/>
              </a:defRPr>
            </a:pPr>
          </a:p>
          <a:p>
            <a:pPr algn="l">
              <a:spcAft>
                <a:spcPts val="700"/>
              </a:spcAft>
              <a:defRPr sz="2100" b="0">
                <a:solidFill>
                  <a:srgbClr val="202020"/>
                </a:solidFill>
                <a:latin typeface="Times New Roman"/>
              </a:defRPr>
            </a:pPr>
            <a:r>
              <a:t>No confirmed seats remain.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72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" y="246888"/>
            <a:ext cx="4251960" cy="1234440"/>
          </a:xfrm>
          <a:prstGeom prst="round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201168"/>
            <a:ext cx="425196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" y="4572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02020"/>
                </a:solidFill>
                <a:latin typeface="Times New Roman"/>
              </a:defRPr>
            </a:pPr>
            <a:r>
              <a:t>NMIMS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365760"/>
            <a:ext cx="29535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MUKESH PATEL SCHOOL OF</a:t>
            </a:r>
          </a:p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TECHNOLOGY MANAGEMENT</a:t>
            </a:r>
          </a:p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&amp;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5560" y="457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900" b="1">
                <a:solidFill>
                  <a:srgbClr val="FFFFFF"/>
                </a:solidFill>
                <a:latin typeface="Times New Roman"/>
              </a:defRPr>
            </a:pPr>
            <a:r>
              <a:t>SVKM’S NMIMS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2272" y="93268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B72D2A"/>
                </a:solidFill>
                <a:latin typeface="Times New Roman"/>
              </a:defRPr>
            </a:pPr>
            <a:r>
              <a:t>Cancellation: Automatic Queue Promotion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547104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626262"/>
                </a:solidFill>
                <a:latin typeface="Times New Roman"/>
              </a:defRPr>
            </a:pPr>
            <a:r>
              <a:t>RailNexus | Advanced Database Management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96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626262"/>
                </a:solidFill>
                <a:latin typeface="Times New Roman"/>
              </a:defRPr>
            </a:pPr>
            <a:r>
              <a:t>11</a:t>
            </a:r>
          </a:p>
        </p:txBody>
      </p:sp>
      <p:pic>
        <p:nvPicPr>
          <p:cNvPr id="11" name="Picture 10" descr="06_promotion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299" y="1737360"/>
            <a:ext cx="6365081" cy="4526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32520" y="201168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0">
                <a:solidFill>
                  <a:srgbClr val="202020"/>
                </a:solidFill>
                <a:latin typeface="Times New Roman"/>
              </a:defRPr>
            </a:pPr>
            <a:r>
              <a:t>Aarav cancels one CFM ticket.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02020"/>
                </a:solidFill>
                <a:latin typeface="Times New Roman"/>
              </a:defRPr>
            </a:pPr>
          </a:p>
          <a:p>
            <a:pPr algn="l">
              <a:spcAft>
                <a:spcPts val="700"/>
              </a:spcAft>
              <a:defRPr sz="2000" b="0">
                <a:solidFill>
                  <a:srgbClr val="202020"/>
                </a:solidFill>
                <a:latin typeface="Times New Roman"/>
              </a:defRPr>
            </a:pPr>
            <a:r>
              <a:t>Meera: RAC → CFM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02020"/>
                </a:solidFill>
                <a:latin typeface="Times New Roman"/>
              </a:defRPr>
            </a:pPr>
            <a:r>
              <a:t>Meera: WL → RAC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02020"/>
                </a:solidFill>
                <a:latin typeface="Times New Roman"/>
              </a:defRPr>
            </a:pPr>
          </a:p>
          <a:p>
            <a:pPr algn="l">
              <a:spcAft>
                <a:spcPts val="700"/>
              </a:spcAft>
              <a:defRPr sz="2000" b="0">
                <a:solidFill>
                  <a:srgbClr val="202020"/>
                </a:solidFill>
                <a:latin typeface="Times New Roman"/>
              </a:defRPr>
            </a:pPr>
            <a:r>
              <a:t>pkg_booking.cancel_ticket updates allocation, queue and audit in a transaction.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72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" y="246888"/>
            <a:ext cx="4251960" cy="1234440"/>
          </a:xfrm>
          <a:prstGeom prst="round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201168"/>
            <a:ext cx="425196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" y="4572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02020"/>
                </a:solidFill>
                <a:latin typeface="Times New Roman"/>
              </a:defRPr>
            </a:pPr>
            <a:r>
              <a:t>NMIMS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365760"/>
            <a:ext cx="29535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MUKESH PATEL SCHOOL OF</a:t>
            </a:r>
          </a:p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TECHNOLOGY MANAGEMENT</a:t>
            </a:r>
          </a:p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&amp;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5560" y="457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900" b="1">
                <a:solidFill>
                  <a:srgbClr val="FFFFFF"/>
                </a:solidFill>
                <a:latin typeface="Times New Roman"/>
              </a:defRPr>
            </a:pPr>
            <a:r>
              <a:t>SVKM’S NMIMS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2272" y="93268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B72D2A"/>
                </a:solidFill>
                <a:latin typeface="Times New Roman"/>
              </a:defRPr>
            </a:pPr>
            <a:r>
              <a:t>Payment, Refund and Integrity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547104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626262"/>
                </a:solidFill>
                <a:latin typeface="Times New Roman"/>
              </a:defRPr>
            </a:pPr>
            <a:r>
              <a:t>RailNexus | Advanced Database Management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96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626262"/>
                </a:solidFill>
                <a:latin typeface="Times New Roman"/>
              </a:defRPr>
            </a:pPr>
            <a: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2880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B72D2A"/>
                </a:solidFill>
                <a:latin typeface="Times New Roman"/>
              </a:defRPr>
            </a:pPr>
            <a:r>
              <a:t>Payment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31136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900" b="0">
                <a:solidFill>
                  <a:srgbClr val="202020"/>
                </a:solidFill>
                <a:latin typeface="Times New Roman"/>
              </a:defRPr>
            </a:pPr>
            <a:r>
              <a:t>UPI / Card / Wallet capture is simulated; fare is validated on the server.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099815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B72D2A"/>
                </a:solidFill>
                <a:latin typeface="Times New Roman"/>
              </a:defRPr>
            </a:pPr>
            <a:r>
              <a:t>Refund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502151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900" b="0">
                <a:solidFill>
                  <a:srgbClr val="202020"/>
                </a:solidFill>
                <a:latin typeface="Times New Roman"/>
              </a:defRPr>
            </a:pPr>
            <a:r>
              <a:t>Cancellation requests the captured refundable amount.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370831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B72D2A"/>
                </a:solidFill>
                <a:latin typeface="Times New Roman"/>
              </a:defRPr>
            </a:pPr>
            <a:r>
              <a:t>Integrity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773168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900" b="0">
                <a:solidFill>
                  <a:srgbClr val="202020"/>
                </a:solidFill>
                <a:latin typeface="Times New Roman"/>
              </a:defRPr>
            </a:pPr>
            <a:r>
              <a:t>Keys, status checks, ownership and request identifiers protect records.</a:t>
            </a:r>
          </a:p>
        </p:txBody>
      </p:sp>
      <p:pic>
        <p:nvPicPr>
          <p:cNvPr id="17" name="Picture 16" descr="04_confirmed_pa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049779"/>
            <a:ext cx="5486400" cy="39014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72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" y="246888"/>
            <a:ext cx="4251960" cy="1234440"/>
          </a:xfrm>
          <a:prstGeom prst="round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201168"/>
            <a:ext cx="425196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" y="4572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02020"/>
                </a:solidFill>
                <a:latin typeface="Times New Roman"/>
              </a:defRPr>
            </a:pPr>
            <a:r>
              <a:t>NMIMS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365760"/>
            <a:ext cx="29535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MUKESH PATEL SCHOOL OF</a:t>
            </a:r>
          </a:p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TECHNOLOGY MANAGEMENT</a:t>
            </a:r>
          </a:p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&amp;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5560" y="457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900" b="1">
                <a:solidFill>
                  <a:srgbClr val="FFFFFF"/>
                </a:solidFill>
                <a:latin typeface="Times New Roman"/>
              </a:defRPr>
            </a:pPr>
            <a:r>
              <a:t>SVKM’S NMIMS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2272" y="93268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B72D2A"/>
                </a:solidFill>
                <a:latin typeface="Times New Roman"/>
              </a:defRPr>
            </a:pPr>
            <a:r>
              <a:t>Station Master → Passenger Notice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547104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626262"/>
                </a:solidFill>
                <a:latin typeface="Times New Roman"/>
              </a:defRPr>
            </a:pPr>
            <a:r>
              <a:t>RailNexus | Advanced Database Management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96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626262"/>
                </a:solidFill>
                <a:latin typeface="Times New Roman"/>
              </a:defRPr>
            </a:pPr>
            <a:r>
              <a:t>13</a:t>
            </a:r>
          </a:p>
        </p:txBody>
      </p:sp>
      <p:pic>
        <p:nvPicPr>
          <p:cNvPr id="11" name="Picture 10" descr="08_station_announc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47596"/>
            <a:ext cx="5669280" cy="4031488"/>
          </a:xfrm>
          <a:prstGeom prst="rect">
            <a:avLst/>
          </a:prstGeom>
        </p:spPr>
      </p:pic>
      <p:pic>
        <p:nvPicPr>
          <p:cNvPr id="12" name="Picture 11" descr="09_passenger_not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63851"/>
            <a:ext cx="5623560" cy="39989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" y="59436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B72D2A"/>
                </a:solidFill>
                <a:latin typeface="Times New Roman"/>
              </a:defRPr>
            </a:pPr>
            <a:r>
              <a:t>Publish at the assigned station → refresh Passenger Notices → the same message appears.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72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" y="246888"/>
            <a:ext cx="4251960" cy="1234440"/>
          </a:xfrm>
          <a:prstGeom prst="round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201168"/>
            <a:ext cx="425196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" y="4572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02020"/>
                </a:solidFill>
                <a:latin typeface="Times New Roman"/>
              </a:defRPr>
            </a:pPr>
            <a:r>
              <a:t>NMIMS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365760"/>
            <a:ext cx="29535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MUKESH PATEL SCHOOL OF</a:t>
            </a:r>
          </a:p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TECHNOLOGY MANAGEMENT</a:t>
            </a:r>
          </a:p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&amp;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5560" y="457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900" b="1">
                <a:solidFill>
                  <a:srgbClr val="FFFFFF"/>
                </a:solidFill>
                <a:latin typeface="Times New Roman"/>
              </a:defRPr>
            </a:pPr>
            <a:r>
              <a:t>SVKM’S NMIMS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2272" y="93268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B72D2A"/>
                </a:solidFill>
                <a:latin typeface="Times New Roman"/>
              </a:defRPr>
            </a:pPr>
            <a:r>
              <a:t>Passenger Booking → TTE Boarding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547104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626262"/>
                </a:solidFill>
                <a:latin typeface="Times New Roman"/>
              </a:defRPr>
            </a:pPr>
            <a:r>
              <a:t>RailNexus | Advanced Database Management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96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626262"/>
                </a:solidFill>
                <a:latin typeface="Times New Roman"/>
              </a:defRPr>
            </a:pPr>
            <a:r>
              <a:t>14</a:t>
            </a:r>
          </a:p>
        </p:txBody>
      </p:sp>
      <p:pic>
        <p:nvPicPr>
          <p:cNvPr id="11" name="Picture 10" descr="07_tte_boar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739" y="1737360"/>
            <a:ext cx="6365081" cy="4526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869680" y="2011680"/>
            <a:ext cx="2743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0">
                <a:solidFill>
                  <a:srgbClr val="202020"/>
                </a:solidFill>
                <a:latin typeface="Times New Roman"/>
              </a:defRPr>
            </a:pPr>
            <a:r>
              <a:t>Select the same journey.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02020"/>
                </a:solidFill>
                <a:latin typeface="Times New Roman"/>
              </a:defRPr>
            </a:pPr>
          </a:p>
          <a:p>
            <a:pPr algn="l">
              <a:spcAft>
                <a:spcPts val="700"/>
              </a:spcAft>
              <a:defRPr sz="2000" b="0">
                <a:solidFill>
                  <a:srgbClr val="202020"/>
                </a:solidFill>
                <a:latin typeface="Times New Roman"/>
              </a:defRPr>
            </a:pPr>
            <a:r>
              <a:t>Load the passenger list.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02020"/>
                </a:solidFill>
                <a:latin typeface="Times New Roman"/>
              </a:defRPr>
            </a:pPr>
          </a:p>
          <a:p>
            <a:pPr algn="l">
              <a:spcAft>
                <a:spcPts val="700"/>
              </a:spcAft>
              <a:defRPr sz="2000" b="0">
                <a:solidFill>
                  <a:srgbClr val="202020"/>
                </a:solidFill>
                <a:latin typeface="Times New Roman"/>
              </a:defRPr>
            </a:pPr>
            <a:r>
              <a:t>Mark a CFM passenger as boarded.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02020"/>
                </a:solidFill>
                <a:latin typeface="Times New Roman"/>
              </a:defRPr>
            </a:pPr>
          </a:p>
          <a:p>
            <a:pPr algn="l">
              <a:spcAft>
                <a:spcPts val="700"/>
              </a:spcAft>
              <a:defRPr sz="2000" b="0">
                <a:solidFill>
                  <a:srgbClr val="202020"/>
                </a:solidFill>
                <a:latin typeface="Times New Roman"/>
              </a:defRPr>
            </a:pPr>
            <a:r>
              <a:t>pkg_tte.board_ticket records the update.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72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" y="246888"/>
            <a:ext cx="4251960" cy="1234440"/>
          </a:xfrm>
          <a:prstGeom prst="round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201168"/>
            <a:ext cx="425196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" y="4572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02020"/>
                </a:solidFill>
                <a:latin typeface="Times New Roman"/>
              </a:defRPr>
            </a:pPr>
            <a:r>
              <a:t>NMIMS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365760"/>
            <a:ext cx="29535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MUKESH PATEL SCHOOL OF</a:t>
            </a:r>
          </a:p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TECHNOLOGY MANAGEMENT</a:t>
            </a:r>
          </a:p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&amp;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5560" y="457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900" b="1">
                <a:solidFill>
                  <a:srgbClr val="FFFFFF"/>
                </a:solidFill>
                <a:latin typeface="Times New Roman"/>
              </a:defRPr>
            </a:pPr>
            <a:r>
              <a:t>SVKM’S NMIMS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2272" y="93268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B72D2A"/>
                </a:solidFill>
                <a:latin typeface="Times New Roman"/>
              </a:defRPr>
            </a:pPr>
            <a:r>
              <a:t>Zone and Super Administrator Reports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547104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626262"/>
                </a:solidFill>
                <a:latin typeface="Times New Roman"/>
              </a:defRPr>
            </a:pPr>
            <a:r>
              <a:t>RailNexus | Advanced Database Management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96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626262"/>
                </a:solidFill>
                <a:latin typeface="Times New Roman"/>
              </a:defRPr>
            </a:pPr>
            <a:r>
              <a:t>15</a:t>
            </a:r>
          </a:p>
        </p:txBody>
      </p:sp>
      <p:pic>
        <p:nvPicPr>
          <p:cNvPr id="11" name="Picture 10" descr="10_zone_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99" y="1783080"/>
            <a:ext cx="6365081" cy="4526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75320" y="1965960"/>
            <a:ext cx="3429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0">
                <a:solidFill>
                  <a:srgbClr val="202020"/>
                </a:solidFill>
                <a:latin typeface="Times New Roman"/>
              </a:defRPr>
            </a:pPr>
            <a:r>
              <a:t>Zone Admin: assigned zone only.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02020"/>
                </a:solidFill>
                <a:latin typeface="Times New Roman"/>
              </a:defRPr>
            </a:pPr>
          </a:p>
          <a:p>
            <a:pPr algn="l">
              <a:spcAft>
                <a:spcPts val="700"/>
              </a:spcAft>
              <a:defRPr sz="2000" b="0">
                <a:solidFill>
                  <a:srgbClr val="202020"/>
                </a:solidFill>
                <a:latin typeface="Times New Roman"/>
              </a:defRPr>
            </a:pPr>
            <a:r>
              <a:t>Super Admin: all three zones.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02020"/>
                </a:solidFill>
                <a:latin typeface="Times New Roman"/>
              </a:defRPr>
            </a:pPr>
          </a:p>
          <a:p>
            <a:pPr algn="l">
              <a:spcAft>
                <a:spcPts val="700"/>
              </a:spcAft>
              <a:defRPr sz="2000" b="0">
                <a:solidFill>
                  <a:srgbClr val="202020"/>
                </a:solidFill>
                <a:latin typeface="Times New Roman"/>
              </a:defRPr>
            </a:pPr>
            <a:r>
              <a:t>Views show live aggregates.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02020"/>
                </a:solidFill>
                <a:latin typeface="Times New Roman"/>
              </a:defRPr>
            </a:pPr>
          </a:p>
          <a:p>
            <a:pPr algn="l">
              <a:spcAft>
                <a:spcPts val="700"/>
              </a:spcAft>
              <a:defRPr sz="2000" b="0">
                <a:solidFill>
                  <a:srgbClr val="202020"/>
                </a:solidFill>
                <a:latin typeface="Times New Roman"/>
              </a:defRPr>
            </a:pPr>
            <a:r>
              <a:t>Materialized reporting data is refreshed on demand.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72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" y="246888"/>
            <a:ext cx="4251960" cy="1234440"/>
          </a:xfrm>
          <a:prstGeom prst="round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201168"/>
            <a:ext cx="425196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" y="4572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02020"/>
                </a:solidFill>
                <a:latin typeface="Times New Roman"/>
              </a:defRPr>
            </a:pPr>
            <a:r>
              <a:t>NMIMS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365760"/>
            <a:ext cx="29535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MUKESH PATEL SCHOOL OF</a:t>
            </a:r>
          </a:p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TECHNOLOGY MANAGEMENT</a:t>
            </a:r>
          </a:p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&amp;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5560" y="457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900" b="1">
                <a:solidFill>
                  <a:srgbClr val="FFFFFF"/>
                </a:solidFill>
                <a:latin typeface="Times New Roman"/>
              </a:defRPr>
            </a:pPr>
            <a:r>
              <a:t>SVKM’S NMIMS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2272" y="93268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B72D2A"/>
                </a:solidFill>
                <a:latin typeface="Times New Roman"/>
              </a:defRPr>
            </a:pPr>
            <a:r>
              <a:t>Triggers and Audit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547104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626262"/>
                </a:solidFill>
                <a:latin typeface="Times New Roman"/>
              </a:defRPr>
            </a:pPr>
            <a:r>
              <a:t>RailNexus | Advanced Database Management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96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626262"/>
                </a:solidFill>
                <a:latin typeface="Times New Roman"/>
              </a:defRPr>
            </a:pPr>
            <a:r>
              <a:t>16</a:t>
            </a:r>
          </a:p>
        </p:txBody>
      </p:sp>
      <p:pic>
        <p:nvPicPr>
          <p:cNvPr id="11" name="Picture 10" descr="11_superadmin_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99" y="1783080"/>
            <a:ext cx="6365081" cy="4526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75320" y="1920240"/>
            <a:ext cx="3429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900" b="0">
                <a:solidFill>
                  <a:srgbClr val="202020"/>
                </a:solidFill>
                <a:latin typeface="Times New Roman"/>
              </a:defRPr>
            </a:pPr>
            <a:r>
              <a:t>Package inserts booking audit.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02020"/>
                </a:solidFill>
                <a:latin typeface="Times New Roman"/>
              </a:defRPr>
            </a:pPr>
          </a:p>
          <a:p>
            <a:pPr algn="l">
              <a:spcAft>
                <a:spcPts val="700"/>
              </a:spcAft>
              <a:defRPr sz="1900" b="0">
                <a:solidFill>
                  <a:srgbClr val="202020"/>
                </a:solidFill>
                <a:latin typeface="Times New Roman"/>
              </a:defRPr>
            </a:pPr>
            <a:r>
              <a:t>trg_audit_to_outbox inserts an outbox event.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02020"/>
                </a:solidFill>
                <a:latin typeface="Times New Roman"/>
              </a:defRPr>
            </a:pPr>
          </a:p>
          <a:p>
            <a:pPr algn="l">
              <a:spcAft>
                <a:spcPts val="700"/>
              </a:spcAft>
              <a:defRPr sz="1900" b="0">
                <a:solidFill>
                  <a:srgbClr val="202020"/>
                </a:solidFill>
                <a:latin typeface="Times New Roman"/>
              </a:defRPr>
            </a:pPr>
            <a:r>
              <a:t>Announcement trigger records publication.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02020"/>
                </a:solidFill>
                <a:latin typeface="Times New Roman"/>
              </a:defRPr>
            </a:pPr>
          </a:p>
          <a:p>
            <a:pPr algn="l">
              <a:spcAft>
                <a:spcPts val="700"/>
              </a:spcAft>
              <a:defRPr sz="1900" b="0">
                <a:solidFill>
                  <a:srgbClr val="202020"/>
                </a:solidFill>
                <a:latin typeface="Times New Roman"/>
              </a:defRPr>
            </a:pPr>
            <a:r>
              <a:t>Queue promotion itself is procedure logic.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72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" y="246888"/>
            <a:ext cx="4251960" cy="1234440"/>
          </a:xfrm>
          <a:prstGeom prst="round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201168"/>
            <a:ext cx="425196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" y="4572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02020"/>
                </a:solidFill>
                <a:latin typeface="Times New Roman"/>
              </a:defRPr>
            </a:pPr>
            <a:r>
              <a:t>NMIMS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365760"/>
            <a:ext cx="29535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MUKESH PATEL SCHOOL OF</a:t>
            </a:r>
          </a:p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TECHNOLOGY MANAGEMENT</a:t>
            </a:r>
          </a:p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&amp;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5560" y="457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900" b="1">
                <a:solidFill>
                  <a:srgbClr val="FFFFFF"/>
                </a:solidFill>
                <a:latin typeface="Times New Roman"/>
              </a:defRPr>
            </a:pPr>
            <a:r>
              <a:t>SVKM’S NMIMS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2272" y="93268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B72D2A"/>
                </a:solidFill>
                <a:latin typeface="Times New Roman"/>
              </a:defRPr>
            </a:pPr>
            <a:r>
              <a:t>ADBMS Concepts and Source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547104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626262"/>
                </a:solidFill>
                <a:latin typeface="Times New Roman"/>
              </a:defRPr>
            </a:pPr>
            <a:r>
              <a:t>RailNexus | Advanced Database Management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96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626262"/>
                </a:solidFill>
                <a:latin typeface="Times New Roman"/>
              </a:defRPr>
            </a:pPr>
            <a: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B72D2A"/>
                </a:solidFill>
                <a:latin typeface="Times New Roman"/>
              </a:defRPr>
            </a:pPr>
            <a:r>
              <a:t>Procedures / functions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1828800"/>
            <a:ext cx="7818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202020"/>
                </a:solidFill>
                <a:latin typeface="Times New Roman"/>
              </a:defRPr>
            </a:pPr>
            <a:r>
              <a:t>db/plsql/pkg_booking.sql; pkg_fare.sql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7919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B72D2A"/>
                </a:solidFill>
                <a:latin typeface="Times New Roman"/>
              </a:defRPr>
            </a:pPr>
            <a:r>
              <a:t>Triggers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679192"/>
            <a:ext cx="7818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202020"/>
                </a:solidFill>
                <a:latin typeface="Times New Roman"/>
              </a:defRPr>
            </a:pPr>
            <a:r>
              <a:t>db/plsql/outbox_audit_trigger.sql; pkg_announcements.sql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52958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B72D2A"/>
                </a:solidFill>
                <a:latin typeface="Times New Roman"/>
              </a:defRPr>
            </a:pPr>
            <a:r>
              <a:t>EER and constraints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529584"/>
            <a:ext cx="7818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202020"/>
                </a:solidFill>
                <a:latin typeface="Times New Roman"/>
              </a:defRPr>
            </a:pPr>
            <a:r>
              <a:t>db/shared_ddl/01_core_schema.sql; db/zone_common/booking_family.sql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37997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B72D2A"/>
                </a:solidFill>
                <a:latin typeface="Times New Roman"/>
              </a:defRPr>
            </a:pPr>
            <a:r>
              <a:t>Fragmentation / 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379976"/>
            <a:ext cx="7818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202020"/>
                </a:solidFill>
                <a:latin typeface="Times New Roman"/>
              </a:defRPr>
            </a:pPr>
            <a:r>
              <a:t>db/distributed/db_links.sql; db/reporting/report_views.sql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23036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B72D2A"/>
                </a:solidFill>
                <a:latin typeface="Times New Roman"/>
              </a:defRPr>
            </a:pPr>
            <a:r>
              <a:t>Object types / 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5230368"/>
            <a:ext cx="7818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202020"/>
                </a:solidFill>
                <a:latin typeface="Times New Roman"/>
              </a:defRPr>
            </a:pPr>
            <a:r>
              <a:t>db/or/route_journey_types.sql; db/json/pkg_json_rules.sql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72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" y="246888"/>
            <a:ext cx="4251960" cy="1234440"/>
          </a:xfrm>
          <a:prstGeom prst="round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201168"/>
            <a:ext cx="425196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" y="4572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02020"/>
                </a:solidFill>
                <a:latin typeface="Times New Roman"/>
              </a:defRPr>
            </a:pPr>
            <a:r>
              <a:t>NMIMS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365760"/>
            <a:ext cx="29535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MUKESH PATEL SCHOOL OF</a:t>
            </a:r>
          </a:p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TECHNOLOGY MANAGEMENT</a:t>
            </a:r>
          </a:p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&amp;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5560" y="457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900" b="1">
                <a:solidFill>
                  <a:srgbClr val="FFFFFF"/>
                </a:solidFill>
                <a:latin typeface="Times New Roman"/>
              </a:defRPr>
            </a:pPr>
            <a:r>
              <a:t>SVKM’S NMIMS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2272" y="93268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B72D2A"/>
                </a:solidFill>
                <a:latin typeface="Times New Roman"/>
              </a:defRPr>
            </a:pPr>
            <a:r>
              <a:t>Validation and Project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547104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626262"/>
                </a:solidFill>
                <a:latin typeface="Times New Roman"/>
              </a:defRPr>
            </a:pPr>
            <a:r>
              <a:t>RailNexus | Advanced Database Management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96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626262"/>
                </a:solidFill>
                <a:latin typeface="Times New Roman"/>
              </a:defRPr>
            </a:pPr>
            <a: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2880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B72D2A"/>
                </a:solidFill>
                <a:latin typeface="Times New Roman"/>
              </a:defRPr>
            </a:pPr>
            <a:r>
              <a:t>Verified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31136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200" b="0">
                <a:solidFill>
                  <a:srgbClr val="202020"/>
                </a:solidFill>
                <a:latin typeface="Times New Roman"/>
              </a:defRPr>
            </a:pPr>
            <a:r>
              <a:t>276 real API assertions; 31 backend + 2 frontend unit tests; production builds passed.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099815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B72D2A"/>
                </a:solidFill>
                <a:latin typeface="Times New Roman"/>
              </a:defRPr>
            </a:pPr>
            <a:r>
              <a:t>Connected workflows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502151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200" b="0">
                <a:solidFill>
                  <a:srgbClr val="202020"/>
                </a:solidFill>
                <a:latin typeface="Times New Roman"/>
              </a:defRPr>
            </a:pPr>
            <a:r>
              <a:t>Two-passenger promotion, staff publication, TTE boarding and role restrictions.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370831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B72D2A"/>
                </a:solidFill>
                <a:latin typeface="Times New Roman"/>
              </a:defRPr>
            </a:pPr>
            <a:r>
              <a:t>Prototype limits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77316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200" b="0">
                <a:solidFill>
                  <a:srgbClr val="202020"/>
                </a:solidFill>
                <a:latin typeface="Times New Roman"/>
              </a:defRPr>
            </a:pPr>
            <a:r>
              <a:t>Simulated payments; one Oracle instance with three zone schemas; refresh-based updates.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72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" y="246888"/>
            <a:ext cx="4251960" cy="1234440"/>
          </a:xfrm>
          <a:prstGeom prst="round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201168"/>
            <a:ext cx="425196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" y="4572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02020"/>
                </a:solidFill>
                <a:latin typeface="Times New Roman"/>
              </a:defRPr>
            </a:pPr>
            <a:r>
              <a:t>NMIMS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365760"/>
            <a:ext cx="29535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MUKESH PATEL SCHOOL OF</a:t>
            </a:r>
          </a:p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TECHNOLOGY MANAGEMENT</a:t>
            </a:r>
          </a:p>
          <a:p>
            <a:pPr algn="l">
              <a:spcAft>
                <a:spcPts val="700"/>
              </a:spcAft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&amp;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5560" y="457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900" b="1">
                <a:solidFill>
                  <a:srgbClr val="FFFFFF"/>
                </a:solidFill>
                <a:latin typeface="Times New Roman"/>
              </a:defRPr>
            </a:pPr>
            <a:r>
              <a:t>SVKM’S NMIMS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2272" y="93268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B72D2A"/>
                </a:solidFill>
                <a:latin typeface="Times New Roman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547104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626262"/>
                </a:solidFill>
                <a:latin typeface="Times New Roman"/>
              </a:defRPr>
            </a:pPr>
            <a:r>
              <a:t>RailNexus | Advanced Database Management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96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626262"/>
                </a:solidFill>
                <a:latin typeface="Times New Roman"/>
              </a:defRPr>
            </a:pPr>
            <a: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874519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3200" b="1">
                <a:solidFill>
                  <a:srgbClr val="B72D2A"/>
                </a:solidFill>
                <a:latin typeface="Times New Roman"/>
              </a:defRPr>
            </a:pPr>
            <a:r>
              <a:t>One actor changes data.</a:t>
            </a:r>
          </a:p>
          <a:p>
            <a:pPr algn="ctr">
              <a:spcAft>
                <a:spcPts val="700"/>
              </a:spcAft>
              <a:defRPr sz="3200" b="1">
                <a:solidFill>
                  <a:srgbClr val="B72D2A"/>
                </a:solidFill>
                <a:latin typeface="Times New Roman"/>
              </a:defRPr>
            </a:pPr>
            <a:r>
              <a:t>Another actor sees the database result.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337560"/>
            <a:ext cx="9966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400" b="0">
                <a:solidFill>
                  <a:srgbClr val="202020"/>
                </a:solidFill>
                <a:latin typeface="Times New Roman"/>
              </a:defRPr>
            </a:pPr>
            <a:r>
              <a:t>Booking → CFM / RAC / WL</a:t>
            </a:r>
          </a:p>
          <a:p>
            <a:pPr algn="ctr">
              <a:spcAft>
                <a:spcPts val="700"/>
              </a:spcAft>
              <a:defRPr sz="2400" b="0">
                <a:solidFill>
                  <a:srgbClr val="202020"/>
                </a:solidFill>
                <a:latin typeface="Times New Roman"/>
              </a:defRPr>
            </a:pPr>
            <a:r>
              <a:t>Cancellation → promotion and refund</a:t>
            </a:r>
          </a:p>
          <a:p>
            <a:pPr algn="ctr">
              <a:spcAft>
                <a:spcPts val="700"/>
              </a:spcAft>
              <a:defRPr sz="2400" b="0">
                <a:solidFill>
                  <a:srgbClr val="202020"/>
                </a:solidFill>
                <a:latin typeface="Times New Roman"/>
              </a:defRPr>
            </a:pPr>
            <a:r>
              <a:t>Announcement → Passenger Notices</a:t>
            </a:r>
          </a:p>
          <a:p>
            <a:pPr algn="ctr">
              <a:spcAft>
                <a:spcPts val="700"/>
              </a:spcAft>
              <a:defRPr sz="2400" b="0">
                <a:solidFill>
                  <a:srgbClr val="202020"/>
                </a:solidFill>
                <a:latin typeface="Times New Roman"/>
              </a:defRPr>
            </a:pPr>
            <a:r>
              <a:t>Boarding → updated TTE record</a:t>
            </a:r>
          </a:p>
          <a:p>
            <a:pPr algn="ctr">
              <a:spcAft>
                <a:spcPts val="700"/>
              </a:spcAft>
              <a:defRPr sz="2400" b="0">
                <a:solidFill>
                  <a:srgbClr val="202020"/>
                </a:solidFill>
                <a:latin typeface="Times New Roman"/>
              </a:defRPr>
            </a:pPr>
            <a:r>
              <a:t>Transactions → consistent records and audit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RailNexus — Railway Reservation System</dc:title>
  <dc:subject>ADBMS project presentation</dc:subject>
  <dc:creator>Priyanshu Tiwari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